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6" r:id="rId5"/>
    <p:sldId id="297" r:id="rId6"/>
    <p:sldId id="261" r:id="rId7"/>
    <p:sldId id="286" r:id="rId8"/>
    <p:sldId id="263" r:id="rId9"/>
    <p:sldId id="265" r:id="rId10"/>
    <p:sldId id="298" r:id="rId11"/>
    <p:sldId id="278" r:id="rId12"/>
    <p:sldId id="262" r:id="rId13"/>
    <p:sldId id="300" r:id="rId14"/>
    <p:sldId id="279" r:id="rId15"/>
    <p:sldId id="280" r:id="rId16"/>
    <p:sldId id="301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87887" autoAdjust="0"/>
  </p:normalViewPr>
  <p:slideViewPr>
    <p:cSldViewPr snapToGrid="0" showGuides="1">
      <p:cViewPr varScale="1">
        <p:scale>
          <a:sx n="69" d="100"/>
          <a:sy n="69" d="100"/>
        </p:scale>
        <p:origin x="100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4/13/2026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Nilson Report,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mobile banking,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vòng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0705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PaySim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Phi. Dataset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8,213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0.13%.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imbalanced 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7326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tầng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Producer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PaySim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CSV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 topic transactions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real-time.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PySpark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Structured Streaming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engineering,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 prediction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rule-based detection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micro-batch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Kafka topics: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processed_transactions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fraud_alerts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consume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PostgreSQL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đẩy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alerts real-time qua Server-Sent Events (SSE).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Dashboard Next.js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2537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pipeline: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raw data.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enrich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ip_address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unknown device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suspicious IP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Spark Streaming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foreachBatch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micro-batch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Kafka. 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feature engineering → ML prediction → rule detection → risk scoring 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 executors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.collect()).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native Spark Kafka sink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df.write.format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931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chia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— Raw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amount,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PaySim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— Derived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balance_change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balance_error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amount 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amount_ratio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raw features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— One-hot encoding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binary columns.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executors,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5151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imbalance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0.13%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accuracy 99.87%.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Synthetic Minority Over-sampling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 3 models: Logistic Regression, Random Forest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Boosting.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= 0.9966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Precision = 0.9988, Recall = 0.9945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serialize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joblib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 qua broadcast variable,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copy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qua network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2627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business rules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domain knowledge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Blacklist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1.0):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Amount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(0.8):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200,000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 Drain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(0.7):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amount &gt; 10,000.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 Ratio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(0.6):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Rapid Transactions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(0.5):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user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micro-batch.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 Error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(0.5):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Device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(0.4):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Suspicious IP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(0.3): IP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risk_score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2466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Native Kafka Sink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.collect()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rồi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df.write.format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executors,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Broadcast Variable — model ML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blacklist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broadcast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executors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shuffle.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Feature engineering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pure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transformations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executors,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toPandas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hay .collect().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Cache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Unpersist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output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topics,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unpersist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Kafka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partitions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brokers.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mode sang cluster mode (YARN/Kubernetes)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9223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 test cases chia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API endpoints, test feature engineering,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detection rules. CI/CD pipeline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GitHub Actions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lint (flake8)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2213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streaming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 (F1=0.9966)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business rules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risk_score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bottleneck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driver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real-time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SSE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Containerized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 Compose,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CI/CD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Spark cluster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 multi-broker.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mode, Kafka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broker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distributed. Blacklist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tĩnh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monitoring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deploy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 Operator,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Prometheus + Grafana monitoring,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 retrain model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concept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138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027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431" y="685800"/>
            <a:ext cx="7332412" cy="2743200"/>
          </a:xfrm>
        </p:spPr>
        <p:txBody>
          <a:bodyPr anchor="b"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&amp;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lận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254" y="3914774"/>
            <a:ext cx="4114800" cy="1628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/>
              <a:t>Nhóm</a:t>
            </a:r>
            <a:r>
              <a:rPr lang="en-US" dirty="0"/>
              <a:t> 4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29CF8-6638-4A43-83CD-3003F8D15422}"/>
              </a:ext>
            </a:extLst>
          </p:cNvPr>
          <p:cNvSpPr txBox="1"/>
          <p:nvPr/>
        </p:nvSpPr>
        <p:spPr>
          <a:xfrm>
            <a:off x="1270254" y="4552160"/>
            <a:ext cx="6100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189">
              <a:buSzPct val="100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Nguyễn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Khoa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1150080099</a:t>
            </a:r>
          </a:p>
          <a:p>
            <a:pPr indent="457189">
              <a:buSzPct val="100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Châu Thị Ngọc Quyên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1150080113</a:t>
            </a:r>
          </a:p>
          <a:p>
            <a:pPr indent="457189">
              <a:buSzPct val="100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Hoàng Thanh Trà - 1150080120</a:t>
            </a:r>
          </a:p>
          <a:p>
            <a:pPr indent="457189">
              <a:buSzPct val="100000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Thị Ngọc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Huyền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1150080138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  <a:noFill/>
        </p:spPr>
        <p:txBody>
          <a:bodyPr anchor="ctr">
            <a:noAutofit/>
          </a:bodyPr>
          <a:lstStyle/>
          <a:p>
            <a:r>
              <a:rPr lang="en-US" dirty="0" err="1">
                <a:sym typeface="+mn-ea"/>
              </a:rPr>
              <a:t>Nội</a:t>
            </a:r>
            <a:r>
              <a:rPr lang="en-US" dirty="0">
                <a:sym typeface="+mn-ea"/>
              </a:rPr>
              <a:t> dung </a:t>
            </a:r>
            <a:r>
              <a:rPr lang="en-US" dirty="0" err="1">
                <a:sym typeface="+mn-ea"/>
              </a:rPr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88" y="2299335"/>
            <a:ext cx="6102737" cy="2953512"/>
          </a:xfrm>
          <a:noFill/>
        </p:spPr>
        <p:txBody>
          <a:bodyPr>
            <a:noAutofit/>
          </a:bodyPr>
          <a:lstStyle/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Bối cảnh &amp; Vấn đề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Kiến trúc hệ thống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Data Pipeline chi tiết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Feature Engineering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Mô hình Machine Learning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Rule-based Detection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Tối ưu Spark &amp; Khả năng mở rộng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Demo hệ thống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Kết luận &amp; Hướng phát triển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dirty="0" err="1">
                <a:sym typeface="+mn-ea"/>
              </a:rPr>
              <a:t>Bối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cảnh</a:t>
            </a:r>
            <a:r>
              <a:rPr lang="en-US" dirty="0">
                <a:sym typeface="+mn-ea"/>
              </a:rPr>
              <a:t> &amp; </a:t>
            </a:r>
            <a:r>
              <a:rPr lang="en-US" dirty="0" err="1">
                <a:sym typeface="+mn-ea"/>
              </a:rPr>
              <a:t>Vấn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3" y="2313432"/>
            <a:ext cx="7319437" cy="3218688"/>
          </a:xfrm>
          <a:noFill/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Thiệt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hại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lận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&gt;30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tỷ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USD/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năm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(Nilson Report)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Hệ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thống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batch: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trễ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hàng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giờ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→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không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kịp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phát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hiện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Yêu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phát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hiện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real-time &lt; 5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giây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Dataset: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PaySim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— 6.3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triệu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giao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dịch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0.13%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lận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en-US"/>
              <a:t>Dataset – </a:t>
            </a:r>
            <a:r>
              <a:rPr lang="en-US" err="1"/>
              <a:t>PaySim</a:t>
            </a:r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57B53CD-F1A3-638D-2670-C168368CA5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19703" y="2250482"/>
            <a:ext cx="7253397" cy="3554165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FFB4060-55FB-32C2-6FB0-EE0C05A1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5" y="-414761"/>
            <a:ext cx="10506456" cy="1655064"/>
          </a:xfrm>
          <a:noFill/>
        </p:spPr>
        <p:txBody>
          <a:bodyPr>
            <a:noAutofit/>
          </a:bodyPr>
          <a:lstStyle/>
          <a:p>
            <a:r>
              <a:rPr lang="en-US" dirty="0" err="1">
                <a:sym typeface="+mn-ea"/>
              </a:rPr>
              <a:t>Kiến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trúc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tổng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4496" y="1384777"/>
            <a:ext cx="9843008" cy="341237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  <a:sym typeface="+mn-ea"/>
              </a:rPr>
              <a:t>Luồng</a:t>
            </a:r>
            <a:r>
              <a:rPr 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dữ</a:t>
            </a:r>
            <a:r>
              <a:rPr 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liệu</a:t>
            </a:r>
            <a:r>
              <a:rPr lang="en-US" dirty="0">
                <a:solidFill>
                  <a:schemeClr val="tx1"/>
                </a:solidFill>
                <a:sym typeface="+mn-ea"/>
              </a:rPr>
              <a:t>: CSV → Kafka →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PySpark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→ Kafka →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FastAPI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→ PostgreSQL → Next.js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688298DE-7FE4-3225-4765-87A4B0B3E1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08711" y="1867280"/>
            <a:ext cx="7174577" cy="469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124712"/>
          </a:xfrm>
          <a:noFill/>
        </p:spPr>
        <p:txBody>
          <a:bodyPr>
            <a:noAutofit/>
          </a:bodyPr>
          <a:lstStyle/>
          <a:p>
            <a:r>
              <a:rPr lang="en-US" dirty="0">
                <a:sym typeface="+mn-ea"/>
              </a:rPr>
              <a:t>Data Pipeline chi </a:t>
            </a:r>
            <a:r>
              <a:rPr lang="en-US" dirty="0" err="1">
                <a:sym typeface="+mn-ea"/>
              </a:rPr>
              <a:t>tiết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907" y="1741597"/>
            <a:ext cx="9003941" cy="3090672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Producer: CSV → JSON +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device_id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ip_address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Kafka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Spark: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foreachBatch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(5s trigger)</a:t>
            </a:r>
          </a:p>
          <a:p>
            <a:pPr marL="457189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Feature Engineering (pure Spark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189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ML Prediction (UDF + broadcast model)</a:t>
            </a:r>
          </a:p>
          <a:p>
            <a:pPr marL="457189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Rule Detection (Spark SQL expressions)</a:t>
            </a:r>
          </a:p>
          <a:p>
            <a:pPr marL="457189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Risk Scoring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formula)</a:t>
            </a:r>
          </a:p>
          <a:p>
            <a:pPr marL="457189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	Write → Kafka (native Spark sink, distributed)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Backend: Kafka Consumer → PostgreSQL + SSE broadcast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24AD3-4986-E625-31E5-7B8F3160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14EF-A2CA-10D8-0CE7-0B75A01B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870373"/>
          </a:xfrm>
          <a:noFill/>
        </p:spPr>
        <p:txBody>
          <a:bodyPr>
            <a:noAutofit/>
          </a:bodyPr>
          <a:lstStyle/>
          <a:p>
            <a:r>
              <a:rPr lang="en-US" dirty="0">
                <a:sym typeface="+mn-ea"/>
              </a:rPr>
              <a:t>Feature Engineering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4EF959-D758-E539-D95F-A6F60BCF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269" y="4809067"/>
            <a:ext cx="9819301" cy="280720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balance_error_orig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newBalance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amount -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oldBalance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(≠ 0 →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ngờ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amount_ratio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amount /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oldBalance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(&gt; 0.8 →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7E6F0-7CD9-2D2B-3E1D-748B9B1D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2D16248D-0BA5-FA0A-1C13-A105C133E31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871469" y="1438928"/>
            <a:ext cx="6692900" cy="316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9574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870373"/>
          </a:xfrm>
          <a:noFill/>
        </p:spPr>
        <p:txBody>
          <a:bodyPr>
            <a:noAutofit/>
          </a:bodyPr>
          <a:lstStyle/>
          <a:p>
            <a:r>
              <a:rPr lang="en-US" dirty="0" err="1">
                <a:sym typeface="+mn-ea"/>
              </a:rPr>
              <a:t>Mô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hình</a:t>
            </a:r>
            <a:r>
              <a:rPr lang="en-US" dirty="0">
                <a:sym typeface="+mn-ea"/>
              </a:rPr>
              <a:t> Machine Learning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269" y="4809067"/>
            <a:ext cx="9819301" cy="280720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imbalance: SMOTE (fraud → 10%)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Stratified split 80/20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Model size: ~50MB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4D4E7BBC-C119-F2A4-A2E7-36BCDBB24C1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557463" y="1478446"/>
            <a:ext cx="6692900" cy="30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>
                <a:sym typeface="+mn-ea"/>
              </a:rPr>
              <a:t>Rule-based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790" y="2305981"/>
            <a:ext cx="8369609" cy="357530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risk_ score=0.4 x rule_ score +0.6 x ml_ probability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detection_method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"both" → ML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detection_method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"ml" →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detection_method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"rule" →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 (ML catch + Rules verify)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DD1C4-D5AF-9353-4023-EA35264E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BA436-81BB-1F17-FFF5-5234F342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C0061FE-ACAC-E983-F883-BCC7B3F6488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741171" y="407371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lt"/>
              </a:defRPr>
            </a:lvl1pPr>
          </a:lstStyle>
          <a:p>
            <a:r>
              <a:rPr lang="en-US">
                <a:sym typeface="+mn-ea"/>
              </a:rPr>
              <a:t>Tối ưu Spark &amp; Khả năng mở rộng</a:t>
            </a:r>
            <a:endParaRPr lang="en-US" dirty="0">
              <a:sym typeface="+mn-ea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C1ECCD7-3651-1295-4E4A-929C6C1828AC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217847" y="4734137"/>
            <a:ext cx="7756306" cy="145224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Scale-out: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Kafka: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partitions/brokers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Spark: local[*] → YARN / Kubernetes cluster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DB: read replicas, time-based partitioning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C542CD78-BE08-85CC-F6FB-2FE1526D9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1251797"/>
            <a:ext cx="5943600" cy="348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3954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dirty="0" err="1">
                <a:sym typeface="+mn-ea"/>
              </a:rPr>
              <a:t>Kiểm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thử</a:t>
            </a:r>
            <a:r>
              <a:rPr lang="en-US" dirty="0">
                <a:sym typeface="+mn-ea"/>
              </a:rPr>
              <a:t> &amp; CI/CD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28156" y="2441447"/>
            <a:ext cx="3528692" cy="3575303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CI/CD Pipeline: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GitHub Actions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động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check Flake8 (Linting)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động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chạy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Pytest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Push/Pull Request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34A1253C-7FBB-7A60-684B-5B0F11D41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382" y="2283291"/>
            <a:ext cx="7006127" cy="327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EB3B6-E1D5-4360-5136-ADCC343C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C44C-E9E7-4742-9034-AF6F4319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451889"/>
          </a:xfrm>
          <a:noFill/>
        </p:spPr>
        <p:txBody>
          <a:bodyPr anchor="b">
            <a:noAutofit/>
          </a:bodyPr>
          <a:lstStyle/>
          <a:p>
            <a:r>
              <a:rPr lang="en-US" dirty="0" err="1">
                <a:sym typeface="+mn-ea"/>
              </a:rPr>
              <a:t>Kết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luận</a:t>
            </a:r>
            <a:r>
              <a:rPr lang="en-US" dirty="0">
                <a:sym typeface="+mn-ea"/>
              </a:rPr>
              <a:t> &amp; </a:t>
            </a:r>
            <a:r>
              <a:rPr lang="en-US" dirty="0" err="1">
                <a:sym typeface="+mn-ea"/>
              </a:rPr>
              <a:t>Hướng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phát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triển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B97865E-9F2B-6A8F-FBFB-073F5ADC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5AD79-88CB-1179-BABF-06C05805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2" y="1939205"/>
            <a:ext cx="4840819" cy="3575304"/>
          </a:xfrm>
        </p:spPr>
        <p:txBody>
          <a:bodyPr>
            <a:noAutofit/>
          </a:bodyPr>
          <a:lstStyle/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Thành quả đạt được: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pipeline: Kafka → Spark → Kafka → DB → Dashboard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+ Rules hybrid detection (risk_score)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Spark Kafka sink (phân tán, không .collect())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6 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services, CI/CD, 19 unit tests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vi-V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real-time (SSE + REST API)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7CBB8C4D-B31A-16AA-D7A0-41158951E453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5774267" y="2638890"/>
            <a:ext cx="5875548" cy="287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1810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1281283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F4705-7CDF-C295-BC95-0D2948427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7719267510205">
            <a:hlinkClick r:id="" action="ppaction://media"/>
            <a:extLst>
              <a:ext uri="{FF2B5EF4-FFF2-40B4-BE49-F238E27FC236}">
                <a16:creationId xmlns:a16="http://schemas.microsoft.com/office/drawing/2014/main" id="{3D72917A-2BE0-13DC-4FE5-CFB5C43732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Rule-based Dete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24</TotalTime>
  <Words>1904</Words>
  <Application>Microsoft Office PowerPoint</Application>
  <PresentationFormat>Widescreen</PresentationFormat>
  <Paragraphs>137</Paragraphs>
  <Slides>14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Custom</vt:lpstr>
      <vt:lpstr>Quản trị rủi ro &amp; Phát hiện gian lận</vt:lpstr>
      <vt:lpstr>Nội dung chính</vt:lpstr>
      <vt:lpstr>Bối cảnh &amp; Vấn đề</vt:lpstr>
      <vt:lpstr>Dataset – PaySim</vt:lpstr>
      <vt:lpstr>Kiến trúc tổng quan</vt:lpstr>
      <vt:lpstr>Data Pipeline chi tiết</vt:lpstr>
      <vt:lpstr>Feature Engineering</vt:lpstr>
      <vt:lpstr>Mô hình Machine Learning</vt:lpstr>
      <vt:lpstr>Rule-based Detection</vt:lpstr>
      <vt:lpstr>PowerPoint Presentation</vt:lpstr>
      <vt:lpstr>DEMO</vt:lpstr>
      <vt:lpstr>Kiểm thử &amp; CI/CD</vt:lpstr>
      <vt:lpstr>Kết luận &amp; Hướng phát triển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2026-04-13T01:12:52Z</dcterms:created>
  <dcterms:modified xsi:type="dcterms:W3CDTF">2026-04-13T01:37:31Z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