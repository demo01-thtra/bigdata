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96" r:id="rId5"/>
    <p:sldId id="297" r:id="rId6"/>
    <p:sldId id="261" r:id="rId7"/>
    <p:sldId id="286" r:id="rId8"/>
    <p:sldId id="263" r:id="rId9"/>
    <p:sldId id="265" r:id="rId10"/>
    <p:sldId id="298" r:id="rId11"/>
    <p:sldId id="278" r:id="rId12"/>
    <p:sldId id="262" r:id="rId13"/>
    <p:sldId id="300" r:id="rId14"/>
    <p:sldId id="279" r:id="rId15"/>
    <p:sldId id="280" r:id="rId16"/>
    <p:sldId id="301" r:id="rId17"/>
    <p:sldId id="28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567A"/>
    <a:srgbClr val="0D1D51"/>
    <a:srgbClr val="0072C7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6" autoAdjust="0"/>
    <p:restoredTop sz="87887" autoAdjust="0"/>
  </p:normalViewPr>
  <p:slideViewPr>
    <p:cSldViewPr snapToGrid="0" showGuides="1">
      <p:cViewPr varScale="1">
        <p:scale>
          <a:sx n="69" d="100"/>
          <a:sy n="69" d="100"/>
        </p:scale>
        <p:origin x="100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1560" y="-14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243D74-B9C1-450A-B0F3-6C6DCB0CF2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C27C33-9BB1-41D5-A236-12767E7E72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B3EA8-A58D-4C92-A3AB-D271CCC294C7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A7EADB-04A4-4093-B238-438E2C7317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D8696-706D-440E-AE04-4C644F0613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A5DE8-F2C4-4DB3-88D1-656DCD59E7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8243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FB4FA-E877-413E-B608-88789D806C57}" type="datetimeFigureOut">
              <a:rPr lang="en-US" noProof="0" smtClean="0"/>
              <a:t>4/13/2026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36304E-FDE3-4B4F-A3B7-EBE87F3FA5E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36304E-FDE3-4B4F-A3B7-EBE87F3FA5E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190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báo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Nilson Report,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thiệt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hại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30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tỷ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năm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sự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mobile banking,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lượng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hàng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ngày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truyền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batch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hàng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giờ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hoặc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hàng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ngày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đáp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ứng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yêu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thời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đặt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Làm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thế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nào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để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vòng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dưới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lúc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đến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cảnh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báo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dashboard?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70705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dụng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PaySim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mô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phỏng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động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dựa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thật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vụ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tại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châu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Phi. Dataset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gồm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6.3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8,213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chiếm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0.13%.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imbalanced 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điển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hình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77326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kiến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trúc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tổng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 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tầng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Thứ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Producer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đọc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PaySim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CSV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gửi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 topic transactions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mô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phỏng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luồng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real-time.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Thứ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PySpark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Structured Streaming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đọc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feature engineering,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 prediction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rule-based detection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micro-batch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Thứ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lại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Kafka topics: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processed_transactions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chứa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bộ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scoring,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fraud_alerts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chứa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Thứ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FastAPI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Backend consume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lưu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PostgreSQL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đẩy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alerts real-time qua Server-Sent Events (SSE).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Cuối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Dashboard Next.js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biểu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đồ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cảnh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báo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tiếp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32537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pipeline: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gửi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raw data.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enrich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thêm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device_id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ip_address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mô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phỏng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Khoảng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dụng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unknown device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suspicious IP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feature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giúp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hành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thường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Spark Streaming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foreachBatch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micro-batch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đọc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Kafka. Trong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batch,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tự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feature engineering → ML prediction → rule detection → risk scoring →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Điểm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trọng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bộ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quá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trình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phân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tán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Spark executors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bước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driver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.collect()).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native Spark Kafka sink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df.write.format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49316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đặc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trưng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chia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 — Raw features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amount,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trước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gửi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gốc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PaySim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— Derived features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Chúng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thêm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balance_change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đổi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balance_error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lệch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cân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đối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nếu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amount ≠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cũ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thì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đáng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amount_ratio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tỷ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rút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giúp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thường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raw features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bắt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 — One-hot encoding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hóa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loại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thành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binary columns.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bộ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Spark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executors,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85151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class imbalance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nghiêm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trọng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0.13%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nếu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tiếp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predict '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mọi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vẫn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accuracy 99.87%.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Vì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vậy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dụng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Synthetic Minority Over-sampling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tỷ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 3 models: Logistic Regression, Random Forest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Gradient Boosting.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Random Forest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F1 = 0.9966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Precision = 0.9988, Recall = 0.9945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tốt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serialize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joblib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load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Spark qua broadcast variable,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đảm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truyền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qua network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26273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Ngoài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business rules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dựa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domain knowledge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trọng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nhau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trọng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1.0):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nếu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khoản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nằm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khoản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nhiều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 Amount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(0.8):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200,000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tiền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Account Drain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(0.7):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rút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sạch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tài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khoản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0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amount &gt; 10,000.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Balance Ratio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(0.6):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rút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80%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Rapid Transactions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(0.5):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 user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≥ 3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 micro-batch.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Balance 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(0.5):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lệch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cân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đối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thường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 Device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(0.4):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chưa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Suspicious IP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(0.3): IP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dải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đáng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ngờ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Điểm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mấu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chốt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hợp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thức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risk_score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2466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tối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ưu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điểm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Native Kafka Sink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vì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.collect()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rồi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gửi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df.write.format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tiếp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executors,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phân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Broadcast Variable — model ML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blacklist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executors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truyền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lại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batch,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shuffle.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Feature engineering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pure Spark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tất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transformations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executors,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toPandas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hay .collect().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Bốn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Cache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Unpersist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output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cache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topics,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unpersist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giải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phóng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Năm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mở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rộng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Kafka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scale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partitions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thêm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brokers. Spark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chuyển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local mode sang cluster mode (YARN/Kubernetes)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đổi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692232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19 test cases chia 3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API endpoints, test feature engineering,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 detection rules. CI/CD pipeline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GitHub Actions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tự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động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lint (flake8)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pytest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mỗi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push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022137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Tổng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thành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thời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Pipeline streaming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nguồn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đến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dashboard</a:t>
            </a:r>
          </a:p>
          <a:p>
            <a:pPr lvl="0"/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hợp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 (F1=0.9966)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 business rules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risk_score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bộ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phân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Spark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bottleneck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tại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driver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Dashboard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giám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real-time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SSE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Containerized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Docker Compose,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CI/CD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scale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chiều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ngang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chuyển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sang Spark cluster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Kafka multi-broker.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Nhóm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thấy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hạn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Spark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local mode, Kafka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 broker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chưa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full distributed. Blacklist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tĩnh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cần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động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Chưa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monitoring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Hướng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deploy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Kubernetes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Spark Operator,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thêm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Prometheus + Grafana monitoring,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xây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dựng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pipeline retrain model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tự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động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concept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5313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50279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D93970-B13A-F96D-A4B1-3A1EE74841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0"/>
            <a:ext cx="1220237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10954512" cy="3246120"/>
          </a:xfrm>
        </p:spPr>
        <p:txBody>
          <a:bodyPr anchor="b">
            <a:noAutofit/>
          </a:bodyPr>
          <a:lstStyle>
            <a:lvl1pPr algn="ctr">
              <a:defRPr sz="6600" b="1" i="0" cap="none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758183"/>
            <a:ext cx="10954512" cy="1307592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850392"/>
            <a:ext cx="3913632" cy="4800600"/>
          </a:xfrm>
        </p:spPr>
        <p:txBody>
          <a:bodyPr/>
          <a:lstStyle>
            <a:lvl1pPr>
              <a:defRPr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965960"/>
            <a:ext cx="4050792" cy="2953512"/>
          </a:xfrm>
        </p:spPr>
        <p:txBody>
          <a:bodyPr anchor="ctr" anchorCtr="0"/>
          <a:lstStyle>
            <a:lvl1pPr>
              <a:defRPr cap="all" baseline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06EB944-76A9-6F98-104E-59CD34F5CF9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7">
            <a:extLst>
              <a:ext uri="{FF2B5EF4-FFF2-40B4-BE49-F238E27FC236}">
                <a16:creationId xmlns:a16="http://schemas.microsoft.com/office/drawing/2014/main" id="{898C8E3F-6992-0D8A-CCA1-3DD2C147AA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4756"/>
          <a:stretch/>
        </p:blipFill>
        <p:spPr>
          <a:xfrm>
            <a:off x="8853067" y="1"/>
            <a:ext cx="1875091" cy="1605320"/>
          </a:xfrm>
          <a:prstGeom prst="rect">
            <a:avLst/>
          </a:prstGeom>
        </p:spPr>
      </p:pic>
      <p:pic>
        <p:nvPicPr>
          <p:cNvPr id="13" name="Picture 7">
            <a:extLst>
              <a:ext uri="{FF2B5EF4-FFF2-40B4-BE49-F238E27FC236}">
                <a16:creationId xmlns:a16="http://schemas.microsoft.com/office/drawing/2014/main" id="{4417AC45-4CB7-72E8-3723-B1A3D81FB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13775" y="5533690"/>
            <a:ext cx="493392" cy="4955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E5941EF-B160-313A-DA99-73C86EDC4C1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794"/>
          <a:stretch/>
        </p:blipFill>
        <p:spPr>
          <a:xfrm>
            <a:off x="10316909" y="2723673"/>
            <a:ext cx="1875091" cy="360098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EEC16221-5852-F1A3-24D1-8EF5E907173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1791"/>
          <a:stretch/>
        </p:blipFill>
        <p:spPr>
          <a:xfrm>
            <a:off x="3497179" y="6324654"/>
            <a:ext cx="910220" cy="541368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5D8B34C3-E35E-0B4E-1F8E-59C449A3C8D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1904"/>
          <a:stretch/>
        </p:blipFill>
        <p:spPr>
          <a:xfrm>
            <a:off x="1601212" y="0"/>
            <a:ext cx="1032928" cy="71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85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1FEFCE-5DDA-D353-F1BF-36752F5F07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2917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824" y="1325880"/>
            <a:ext cx="10460736" cy="2286000"/>
          </a:xfrm>
        </p:spPr>
        <p:txBody>
          <a:bodyPr anchor="b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7824" y="3749040"/>
            <a:ext cx="10460736" cy="2286000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027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B6718ABD-4EA5-E3C5-0225-F6671DCA53AD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21A955-CA2D-A65D-6E60-DAAAA4ACFA3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1050"/>
          <a:stretch/>
        </p:blipFill>
        <p:spPr>
          <a:xfrm>
            <a:off x="0" y="2887579"/>
            <a:ext cx="2432421" cy="36046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AB70155A-604C-AD00-BE69-4505C75CE01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874" b="-1"/>
          <a:stretch/>
        </p:blipFill>
        <p:spPr>
          <a:xfrm rot="5400000">
            <a:off x="11281284" y="2493882"/>
            <a:ext cx="1032928" cy="887899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74D1084-EF5E-D016-13E0-1840BDFFD0A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-880"/>
          <a:stretch/>
        </p:blipFill>
        <p:spPr>
          <a:xfrm>
            <a:off x="9897978" y="5987153"/>
            <a:ext cx="490012" cy="5050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313432"/>
            <a:ext cx="6327648" cy="3218688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032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1B9A11-4222-BB4A-66D3-D37C79AC5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r="21" b="21"/>
          <a:stretch/>
        </p:blipFill>
        <p:spPr>
          <a:xfrm>
            <a:off x="-2595" y="1459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27432"/>
            <a:ext cx="7004304" cy="3566160"/>
          </a:xfrm>
        </p:spPr>
        <p:txBody>
          <a:bodyPr anchor="b">
            <a:noAutofit/>
          </a:bodyPr>
          <a:lstStyle>
            <a:lvl1pPr algn="ctr">
              <a:defRPr sz="60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5" y="3767328"/>
            <a:ext cx="7004303" cy="1161288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29623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72C86F9-080E-93F7-C7B1-F5BEAD84E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5064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432304"/>
            <a:ext cx="3108960" cy="3412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36592" y="1920240"/>
            <a:ext cx="6620256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FF98F94-8801-13BE-8EB4-01921AC196C8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BF5718-9534-FD92-79D7-ECC66603E70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62387"/>
          <a:stretch/>
        </p:blipFill>
        <p:spPr>
          <a:xfrm rot="5400000">
            <a:off x="1778676" y="5204330"/>
            <a:ext cx="907513" cy="24653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FF40650-9AD0-96F8-F702-185D1729AF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558" y="5429608"/>
            <a:ext cx="406214" cy="415066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3AC8518-2F0B-6FC0-0C0E-6CE9D00EAC7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4860" b="-1"/>
          <a:stretch/>
        </p:blipFill>
        <p:spPr>
          <a:xfrm>
            <a:off x="10214191" y="365126"/>
            <a:ext cx="1032928" cy="1106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360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3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7B4AF60-AC65-3E7A-4A5D-EBF1A7030D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063" b="3063"/>
          <a:stretch/>
        </p:blipFill>
        <p:spPr>
          <a:xfrm>
            <a:off x="1" y="2917"/>
            <a:ext cx="12197189" cy="6855082"/>
          </a:xfrm>
          <a:prstGeom prst="rect">
            <a:avLst/>
          </a:prstGeom>
        </p:spPr>
      </p:pic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95671103-2960-81E2-9A76-0E7FDE6B3E55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276856"/>
            <a:ext cx="6327648" cy="3090672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64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86060D16-E6F6-EA0E-E58E-526234AB656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0958AA-6F1A-C4A2-FB66-1A6F7F8834B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095" b="-1"/>
          <a:stretch/>
        </p:blipFill>
        <p:spPr>
          <a:xfrm>
            <a:off x="569419" y="4426479"/>
            <a:ext cx="1472805" cy="159661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EADFA2-398E-9388-8295-063D31FB38E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095" b="-1"/>
          <a:stretch/>
        </p:blipFill>
        <p:spPr>
          <a:xfrm rot="3765410" flipV="1">
            <a:off x="1448505" y="4094575"/>
            <a:ext cx="862484" cy="934988"/>
          </a:xfrm>
          <a:prstGeom prst="rect">
            <a:avLst/>
          </a:prstGeom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D09A7588-8EFD-A0C5-4235-45B7D657ECF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5453"/>
          <a:stretch/>
        </p:blipFill>
        <p:spPr>
          <a:xfrm>
            <a:off x="9469547" y="5719093"/>
            <a:ext cx="1756858" cy="1138907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F04D7D6-513C-D18A-AF21-D10F0E5D3B8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1" r="-750"/>
          <a:stretch/>
        </p:blipFill>
        <p:spPr>
          <a:xfrm>
            <a:off x="8844546" y="50582"/>
            <a:ext cx="1307037" cy="1325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671816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728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0CE72F6-1D9D-E61E-F1EE-2861FDF7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0432" y="2459736"/>
            <a:ext cx="2843784" cy="309067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33672" y="2523744"/>
            <a:ext cx="6693408" cy="327355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947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07008" y="2523744"/>
            <a:ext cx="9720072" cy="325526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480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A51A8B-A15C-2A94-1E48-F9615101DF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8991" t="11245" r="3785" b="1531"/>
          <a:stretch/>
        </p:blipFill>
        <p:spPr>
          <a:xfrm>
            <a:off x="0" y="2917"/>
            <a:ext cx="12197192" cy="68550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00200"/>
            <a:ext cx="10991088" cy="3657600"/>
          </a:xfrm>
        </p:spPr>
        <p:txBody>
          <a:bodyPr anchor="ctr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9492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4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5697808D-10E0-D8A5-5D07-E176EBB8F2BB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7">
            <a:extLst>
              <a:ext uri="{FF2B5EF4-FFF2-40B4-BE49-F238E27FC236}">
                <a16:creationId xmlns:a16="http://schemas.microsoft.com/office/drawing/2014/main" id="{0234D012-F86E-04CE-78C8-2C5A6613028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1004" r="-148"/>
          <a:stretch/>
        </p:blipFill>
        <p:spPr>
          <a:xfrm rot="5400000">
            <a:off x="6378170" y="40082"/>
            <a:ext cx="1579705" cy="1600089"/>
          </a:xfrm>
          <a:prstGeom prst="rect">
            <a:avLst/>
          </a:prstGeom>
        </p:spPr>
      </p:pic>
      <p:pic>
        <p:nvPicPr>
          <p:cNvPr id="15" name="Picture 7">
            <a:extLst>
              <a:ext uri="{FF2B5EF4-FFF2-40B4-BE49-F238E27FC236}">
                <a16:creationId xmlns:a16="http://schemas.microsoft.com/office/drawing/2014/main" id="{0BC42061-F838-920E-632E-10EDE7E5539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239" r="25335" b="-1"/>
          <a:stretch/>
        </p:blipFill>
        <p:spPr>
          <a:xfrm rot="16200000">
            <a:off x="6298833" y="-161472"/>
            <a:ext cx="752715" cy="1075657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8BEE67F-530E-E41D-FD19-2615180DC3F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931"/>
          <a:stretch/>
        </p:blipFill>
        <p:spPr>
          <a:xfrm>
            <a:off x="10439102" y="4145165"/>
            <a:ext cx="1780703" cy="216431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82CFCA46-5F5A-867F-B19C-4F9ED5BA15A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6794"/>
          <a:stretch/>
        </p:blipFill>
        <p:spPr>
          <a:xfrm rot="10800000">
            <a:off x="-27806" y="2452933"/>
            <a:ext cx="1370742" cy="2632414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11E8F80C-ACB2-552E-4433-1A8A2708F18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" b="-9728"/>
          <a:stretch/>
        </p:blipFill>
        <p:spPr>
          <a:xfrm rot="18286209">
            <a:off x="887827" y="4958926"/>
            <a:ext cx="910220" cy="1020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293608" y="2441447"/>
            <a:ext cx="3063240" cy="3575303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50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ACFCA6-7ECE-9BFB-9389-6DB74C8628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1" r="21"/>
          <a:stretch/>
        </p:blipFill>
        <p:spPr>
          <a:xfrm>
            <a:off x="-5192" y="-1"/>
            <a:ext cx="12197192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2743200"/>
          </a:xfrm>
        </p:spPr>
        <p:txBody>
          <a:bodyPr anchor="b">
            <a:noAutofit/>
          </a:bodyPr>
          <a:lstStyle>
            <a:lvl1pPr algn="l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5304" y="3110546"/>
            <a:ext cx="4114800" cy="2743200"/>
          </a:xfrm>
        </p:spPr>
        <p:txBody>
          <a:bodyPr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083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noProof="0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63001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5912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71654-96A5-4280-94F3-931C61A9F92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accent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b="0" i="0" kern="1200">
          <a:solidFill>
            <a:schemeClr val="accent2">
              <a:lumMod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1431" y="685800"/>
            <a:ext cx="7332412" cy="2743200"/>
          </a:xfrm>
        </p:spPr>
        <p:txBody>
          <a:bodyPr anchor="b"/>
          <a:lstStyle/>
          <a:p>
            <a:r>
              <a:rPr lang="en-US" dirty="0"/>
              <a:t>Quản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&amp;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lận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0254" y="3914774"/>
            <a:ext cx="4114800" cy="162807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 err="1"/>
              <a:t>Nhóm</a:t>
            </a:r>
            <a:r>
              <a:rPr lang="en-US" dirty="0"/>
              <a:t> 4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B29CF8-6638-4A43-83CD-3003F8D15422}"/>
              </a:ext>
            </a:extLst>
          </p:cNvPr>
          <p:cNvSpPr txBox="1"/>
          <p:nvPr/>
        </p:nvSpPr>
        <p:spPr>
          <a:xfrm>
            <a:off x="1270254" y="4552160"/>
            <a:ext cx="610076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189">
              <a:buSzPct val="1000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Nguyễn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Đăng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Khoa -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1150080099</a:t>
            </a:r>
          </a:p>
          <a:p>
            <a:pPr indent="457189">
              <a:buSzPct val="1000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Châu Thị Ngọc Quyên -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1150080113</a:t>
            </a:r>
          </a:p>
          <a:p>
            <a:pPr indent="457189">
              <a:buSzPct val="1000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Hoàng Thanh Trà - 1150080120</a:t>
            </a:r>
          </a:p>
          <a:p>
            <a:pPr indent="457189">
              <a:buSzPct val="100000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Trần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Thị Ngọc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Huyền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-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1150080138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34B7FD-1CEB-FBA5-45ED-B54D61A5D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500"/>
            <a:ext cx="12192000" cy="6731000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11D4017-56D2-8756-B526-C96211BE38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093233"/>
              </p:ext>
            </p:extLst>
          </p:nvPr>
        </p:nvGraphicFramePr>
        <p:xfrm>
          <a:off x="356840" y="4841480"/>
          <a:ext cx="5352584" cy="1676400"/>
        </p:xfrm>
        <a:graphic>
          <a:graphicData uri="http://schemas.openxmlformats.org/drawingml/2006/table">
            <a:tbl>
              <a:tblPr/>
              <a:tblGrid>
                <a:gridCol w="3258627">
                  <a:extLst>
                    <a:ext uri="{9D8B030D-6E8A-4147-A177-3AD203B41FA5}">
                      <a16:colId xmlns:a16="http://schemas.microsoft.com/office/drawing/2014/main" val="1999808258"/>
                    </a:ext>
                  </a:extLst>
                </a:gridCol>
                <a:gridCol w="2093957">
                  <a:extLst>
                    <a:ext uri="{9D8B030D-6E8A-4147-A177-3AD203B41FA5}">
                      <a16:colId xmlns:a16="http://schemas.microsoft.com/office/drawing/2014/main" val="8314862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>
                          <a:effectLst/>
                        </a:rPr>
                        <a:t>Tên</a:t>
                      </a:r>
                      <a:endParaRPr lang="en-US" b="1" dirty="0">
                        <a:effectLst/>
                      </a:endParaRPr>
                    </a:p>
                  </a:txBody>
                  <a:tcPr marL="45720" marR="45720" marT="30480" marB="30480" anchor="ctr">
                    <a:lnL>
                      <a:noFill/>
                    </a:lnL>
                    <a:lnR w="6096" cap="flat" cmpd="sng" algn="ctr">
                      <a:solidFill>
                        <a:srgbClr val="60F6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096" cap="flat" cmpd="sng" algn="ctr">
                      <a:solidFill>
                        <a:srgbClr val="60F6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</a:rPr>
                        <a:t>MSSV</a:t>
                      </a:r>
                    </a:p>
                  </a:txBody>
                  <a:tcPr marL="45720" marR="45720" marT="30480" marB="30480" anchor="ctr">
                    <a:lnL w="6096" cap="flat" cmpd="sng" algn="ctr">
                      <a:solidFill>
                        <a:srgbClr val="60F6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096" cap="flat" cmpd="sng" algn="ctr">
                      <a:solidFill>
                        <a:srgbClr val="A00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451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Nguyễn Đăng Khoa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 w="6096" cap="flat" cmpd="sng" algn="ctr">
                      <a:solidFill>
                        <a:srgbClr val="200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60F6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200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1150080099</a:t>
                      </a:r>
                    </a:p>
                  </a:txBody>
                  <a:tcPr marL="45720" marR="45720" marT="30480" marB="30480" anchor="ctr">
                    <a:lnL w="6096" cap="flat" cmpd="sng" algn="ctr">
                      <a:solidFill>
                        <a:srgbClr val="200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096" cap="flat" cmpd="sng" algn="ctr">
                      <a:solidFill>
                        <a:srgbClr val="A00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A00A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207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Châu Thị Ngọc Quyên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 w="6096" cap="flat" cmpd="sng" algn="ctr">
                      <a:solidFill>
                        <a:srgbClr val="201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200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201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1150080113</a:t>
                      </a:r>
                    </a:p>
                  </a:txBody>
                  <a:tcPr marL="45720" marR="45720" marT="30480" marB="30480" anchor="ctr">
                    <a:lnL w="6096" cap="flat" cmpd="sng" algn="ctr">
                      <a:solidFill>
                        <a:srgbClr val="201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096" cap="flat" cmpd="sng" algn="ctr">
                      <a:solidFill>
                        <a:srgbClr val="A00A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601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483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Hoàng Thanh Trà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 w="6096" cap="flat" cmpd="sng" algn="ctr">
                      <a:solidFill>
                        <a:srgbClr val="E01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2012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E01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1150080120</a:t>
                      </a:r>
                    </a:p>
                  </a:txBody>
                  <a:tcPr marL="45720" marR="45720" marT="30480" marB="30480" anchor="ctr">
                    <a:lnL w="6096" cap="flat" cmpd="sng" algn="ctr">
                      <a:solidFill>
                        <a:srgbClr val="E01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096" cap="flat" cmpd="sng" algn="ctr">
                      <a:solidFill>
                        <a:srgbClr val="601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601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837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Trần Thị Ngọc Huyền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 w="6096" cap="flat" cmpd="sng" algn="ctr">
                      <a:solidFill>
                        <a:srgbClr val="E018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E015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1150080138</a:t>
                      </a:r>
                    </a:p>
                  </a:txBody>
                  <a:tcPr marL="45720" marR="45720" marT="30480" marB="30480" anchor="ctr">
                    <a:lnL w="6096" cap="flat" cmpd="sng" algn="ctr">
                      <a:solidFill>
                        <a:srgbClr val="E018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096" cap="flat" cmpd="sng" algn="ctr">
                      <a:solidFill>
                        <a:srgbClr val="601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303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633192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850392"/>
            <a:ext cx="3913632" cy="4800600"/>
          </a:xfrm>
          <a:noFill/>
        </p:spPr>
        <p:txBody>
          <a:bodyPr anchor="ctr">
            <a:noAutofit/>
          </a:bodyPr>
          <a:lstStyle/>
          <a:p>
            <a:r>
              <a:rPr lang="en-US" dirty="0" err="1">
                <a:sym typeface="+mn-ea"/>
              </a:rPr>
              <a:t>Nội</a:t>
            </a:r>
            <a:r>
              <a:rPr lang="en-US" dirty="0">
                <a:sym typeface="+mn-ea"/>
              </a:rPr>
              <a:t> dung </a:t>
            </a:r>
            <a:r>
              <a:rPr lang="en-US" dirty="0" err="1">
                <a:sym typeface="+mn-ea"/>
              </a:rPr>
              <a:t>chính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3288" y="1951463"/>
            <a:ext cx="6102737" cy="3301384"/>
          </a:xfrm>
          <a:noFill/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Bối cảnh &amp; Vấn đề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Dataset –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paysim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Kiến trúc hệ thống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Data Pipeline chi tiết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Feature Engineering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Mô hình Machine Learning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Rule-based Detection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Tối ưu Spark &amp; Khả năng mở rộng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Demo hệ thống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10.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kiểm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thử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&amp; CI/CD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. Kết luận &amp; Hướng phát triển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AA7FF5-11CA-8F71-5951-B1099396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507327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  <a:noFill/>
        </p:spPr>
        <p:txBody>
          <a:bodyPr anchor="b">
            <a:noAutofit/>
          </a:bodyPr>
          <a:lstStyle/>
          <a:p>
            <a:r>
              <a:rPr lang="en-US" dirty="0" err="1">
                <a:sym typeface="+mn-ea"/>
              </a:rPr>
              <a:t>Bối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cảnh</a:t>
            </a:r>
            <a:r>
              <a:rPr lang="en-US" dirty="0">
                <a:sym typeface="+mn-ea"/>
              </a:rPr>
              <a:t> &amp; </a:t>
            </a:r>
            <a:r>
              <a:rPr lang="en-US" dirty="0" err="1">
                <a:sym typeface="+mn-ea"/>
              </a:rPr>
              <a:t>Vấn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đề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3" y="2313432"/>
            <a:ext cx="7319437" cy="3218688"/>
          </a:xfrm>
          <a:noFill/>
        </p:spPr>
        <p:txBody>
          <a:bodyPr>
            <a:no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Thiệt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hại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gian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lận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 &gt;30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tỷ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USD/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năm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(Nilson Report)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Hệ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thống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batch: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độ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trễ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hàng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giờ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→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không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kịp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phát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hiện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Yêu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cầu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phát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hiện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real-time &lt; 5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giây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- Dataset: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PaySim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— 6.3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triệu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giao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dịch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, 0.13%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gian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lận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7B9109-9E17-1A7A-3A9A-0F1C07BF3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>
            <a:normAutofit/>
          </a:bodyPr>
          <a:lstStyle/>
          <a:p>
            <a:r>
              <a:rPr lang="en-US" dirty="0"/>
              <a:t>Dataset – </a:t>
            </a:r>
            <a:r>
              <a:rPr lang="en-US" dirty="0" err="1"/>
              <a:t>PaySim</a:t>
            </a:r>
            <a:endParaRPr lang="en-US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557B53CD-F1A3-638D-2670-C168368CA57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219703" y="2250482"/>
            <a:ext cx="7253397" cy="3554165"/>
          </a:xfrm>
          <a:prstGeom prst="rect">
            <a:avLst/>
          </a:prstGeom>
          <a:noFill/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FFB4060-55FB-32C2-6FB0-EE0C05A1B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pPr>
              <a:spcAft>
                <a:spcPts val="600"/>
              </a:spcAft>
            </a:pPr>
            <a:fld id="{CBD12358-51D2-46B3-9BDE-DF29528B9454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3823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725" y="-414761"/>
            <a:ext cx="10506456" cy="1655064"/>
          </a:xfrm>
          <a:noFill/>
        </p:spPr>
        <p:txBody>
          <a:bodyPr>
            <a:noAutofit/>
          </a:bodyPr>
          <a:lstStyle/>
          <a:p>
            <a:r>
              <a:rPr lang="en-US" dirty="0" err="1">
                <a:sym typeface="+mn-ea"/>
              </a:rPr>
              <a:t>Kiến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trúc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tổng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quan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74496" y="1384777"/>
            <a:ext cx="9843008" cy="341237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solidFill>
                  <a:schemeClr val="tx1"/>
                </a:solidFill>
                <a:sym typeface="+mn-ea"/>
              </a:rPr>
              <a:t>Luồng</a:t>
            </a:r>
            <a:r>
              <a:rPr 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+mn-ea"/>
              </a:rPr>
              <a:t>dữ</a:t>
            </a:r>
            <a:r>
              <a:rPr 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+mn-ea"/>
              </a:rPr>
              <a:t>liệu</a:t>
            </a:r>
            <a:r>
              <a:rPr lang="en-US" dirty="0">
                <a:solidFill>
                  <a:schemeClr val="tx1"/>
                </a:solidFill>
                <a:sym typeface="+mn-ea"/>
              </a:rPr>
              <a:t>: CSV → Kafka → </a:t>
            </a:r>
            <a:r>
              <a:rPr lang="en-US" dirty="0" err="1">
                <a:solidFill>
                  <a:schemeClr val="tx1"/>
                </a:solidFill>
                <a:sym typeface="+mn-ea"/>
              </a:rPr>
              <a:t>PySpark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→ Kafka → </a:t>
            </a:r>
            <a:r>
              <a:rPr lang="en-US" dirty="0" err="1">
                <a:solidFill>
                  <a:schemeClr val="tx1"/>
                </a:solidFill>
                <a:sym typeface="+mn-ea"/>
              </a:rPr>
              <a:t>FastAPI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→ PostgreSQL → Next.js</a:t>
            </a:r>
            <a:endParaRPr lang="en-US" dirty="0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E39E6080-E7F0-678F-65B9-B64B99BDF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1">
            <a:extLst>
              <a:ext uri="{FF2B5EF4-FFF2-40B4-BE49-F238E27FC236}">
                <a16:creationId xmlns:a16="http://schemas.microsoft.com/office/drawing/2014/main" id="{688298DE-7FE4-3225-4765-87A4B0B3E1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508711" y="1867280"/>
            <a:ext cx="7174577" cy="4695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124712"/>
          </a:xfrm>
          <a:noFill/>
        </p:spPr>
        <p:txBody>
          <a:bodyPr>
            <a:noAutofit/>
          </a:bodyPr>
          <a:lstStyle/>
          <a:p>
            <a:r>
              <a:rPr lang="en-US" dirty="0">
                <a:sym typeface="+mn-ea"/>
              </a:rPr>
              <a:t>Data Pipeline chi </a:t>
            </a:r>
            <a:r>
              <a:rPr lang="en-US" dirty="0" err="1">
                <a:sym typeface="+mn-ea"/>
              </a:rPr>
              <a:t>tiết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640F-7F5A-BDB7-205D-765FA80B6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2907" y="1741597"/>
            <a:ext cx="9003941" cy="3090672"/>
          </a:xfrm>
          <a:noFill/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Producer: CSV → JSON +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device_id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ip_address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Kafka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Spark: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foreachBatch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(5s trigger)</a:t>
            </a:r>
          </a:p>
          <a:p>
            <a:pPr marL="457189" lvl="1" indent="0"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	Feature Engineering (pure Spark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189" lvl="1" indent="0"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	ML Prediction (UDF + broadcast model)</a:t>
            </a:r>
          </a:p>
          <a:p>
            <a:pPr marL="457189" lvl="1" indent="0"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	Rule Detection (Spark SQL expressions)</a:t>
            </a:r>
          </a:p>
          <a:p>
            <a:pPr marL="457189" lvl="1" indent="0"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	Risk Scoring (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combinee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formula)</a:t>
            </a:r>
          </a:p>
          <a:p>
            <a:pPr marL="457189" lvl="1" indent="0"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	Write → Kafka (native Spark sink, distributed)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Backend: Kafka Consumer → PostgreSQL + SSE broadcast</a:t>
            </a:r>
          </a:p>
          <a:p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3736AF-0027-E734-82A8-010D7129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724AD3-4986-E625-31E5-7B8F31608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214EF-A2CA-10D8-0CE7-0B75A01B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870373"/>
          </a:xfrm>
          <a:noFill/>
        </p:spPr>
        <p:txBody>
          <a:bodyPr>
            <a:noAutofit/>
          </a:bodyPr>
          <a:lstStyle/>
          <a:p>
            <a:r>
              <a:rPr lang="en-US" dirty="0">
                <a:sym typeface="+mn-ea"/>
              </a:rPr>
              <a:t>Feature Engineering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A4EF959-D758-E539-D95F-A6F60BCFD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8269" y="4809067"/>
            <a:ext cx="9819301" cy="2807208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balance_error_orig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newBalance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amount -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oldBalance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(≠ 0 → </a:t>
            </a:r>
            <a:r>
              <a:rPr lang="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áng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ngờ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amount_ratio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amount / (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oldBalance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+ 1) (&gt; 0.8 →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rút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gần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hết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7E6F0-7CD9-2D2B-3E1D-748B9B1DF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Picture 1">
            <a:extLst>
              <a:ext uri="{FF2B5EF4-FFF2-40B4-BE49-F238E27FC236}">
                <a16:creationId xmlns:a16="http://schemas.microsoft.com/office/drawing/2014/main" id="{2D16248D-0BA5-FA0A-1C13-A105C133E31E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tretch>
            <a:fillRect/>
          </a:stretch>
        </p:blipFill>
        <p:spPr>
          <a:xfrm>
            <a:off x="2871469" y="1438928"/>
            <a:ext cx="6692900" cy="3167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095747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870373"/>
          </a:xfrm>
          <a:noFill/>
        </p:spPr>
        <p:txBody>
          <a:bodyPr>
            <a:noAutofit/>
          </a:bodyPr>
          <a:lstStyle/>
          <a:p>
            <a:r>
              <a:rPr lang="en-US" dirty="0" err="1">
                <a:sym typeface="+mn-ea"/>
              </a:rPr>
              <a:t>Mô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hình</a:t>
            </a:r>
            <a:r>
              <a:rPr lang="en-US" dirty="0">
                <a:sym typeface="+mn-ea"/>
              </a:rPr>
              <a:t> Machine Learning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8269" y="4809067"/>
            <a:ext cx="9819301" cy="2807208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</a:t>
            </a:r>
            <a:r>
              <a:rPr lang="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ý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imbalance: SMOTE (fraud → 10%)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Stratified split 80/20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StandardScaler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normalization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Model size: ~50MB (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joblib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F3F922-669F-7D93-0C1C-D5B16E397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5" name="Picture 1">
            <a:extLst>
              <a:ext uri="{FF2B5EF4-FFF2-40B4-BE49-F238E27FC236}">
                <a16:creationId xmlns:a16="http://schemas.microsoft.com/office/drawing/2014/main" id="{4D4E7BBC-C119-F2A4-A2E7-36BCDBB24C1E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tretch>
            <a:fillRect/>
          </a:stretch>
        </p:blipFill>
        <p:spPr>
          <a:xfrm>
            <a:off x="2557463" y="1478446"/>
            <a:ext cx="6692900" cy="3088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  <a:noFill/>
        </p:spPr>
        <p:txBody>
          <a:bodyPr>
            <a:noAutofit/>
          </a:bodyPr>
          <a:lstStyle/>
          <a:p>
            <a:r>
              <a:rPr lang="en-US" dirty="0">
                <a:sym typeface="+mn-ea"/>
              </a:rPr>
              <a:t>Rule-based Detection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6790" y="2305981"/>
            <a:ext cx="8369609" cy="3575304"/>
          </a:xfrm>
          <a:noFill/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risk_ score=0.4 x rule_ score +0.6 x ml_ probability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detection_method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"both" → ML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Rules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detection_method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"ml" →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ML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detection_method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"rule" →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Rules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false positive (ML catch + Rules verify)</a:t>
            </a:r>
          </a:p>
          <a:p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F61F934-8535-E086-C153-D48E49B98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FDD1C4-D5AF-9353-4023-EA35264E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0BA436-81BB-1F17-FFF5-5234F3429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C0061FE-ACAC-E983-F883-BCC7B3F6488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1741171" y="407371"/>
            <a:ext cx="8100000" cy="540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accent2">
                    <a:lumMod val="25000"/>
                  </a:schemeClr>
                </a:solidFill>
                <a:latin typeface="+mj-lt"/>
                <a:ea typeface="+mj-ea"/>
                <a:cs typeface="+mj-lt"/>
              </a:defRPr>
            </a:lvl1pPr>
          </a:lstStyle>
          <a:p>
            <a:r>
              <a:rPr lang="en-US">
                <a:sym typeface="+mn-ea"/>
              </a:rPr>
              <a:t>Tối ưu Spark &amp; Khả năng mở rộng</a:t>
            </a:r>
            <a:endParaRPr lang="en-US" dirty="0">
              <a:sym typeface="+mn-ea"/>
            </a:endParaRP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C1ECCD7-3651-1295-4E4A-929C6C1828AC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2217847" y="4734137"/>
            <a:ext cx="7756306" cy="145224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Scale-out: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Kafka: </a:t>
            </a:r>
            <a:r>
              <a:rPr lang="en-US" alt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partitions/brokers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Spark: local[*] → YARN / Kubernetes cluster</a:t>
            </a:r>
          </a:p>
          <a:p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DB: read replicas, time-based partitioning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C542CD78-BE08-85CC-F6FB-2FE1526D95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9400" y="1251797"/>
            <a:ext cx="5943600" cy="348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739546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00200"/>
            <a:ext cx="10991088" cy="3657600"/>
          </a:xfrm>
          <a:noFill/>
        </p:spPr>
        <p:txBody>
          <a:bodyPr anchor="ctr">
            <a:noAutofit/>
          </a:bodyPr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058085568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  <a:noFill/>
        </p:spPr>
        <p:txBody>
          <a:bodyPr anchor="b">
            <a:noAutofit/>
          </a:bodyPr>
          <a:lstStyle/>
          <a:p>
            <a:r>
              <a:rPr lang="en-US" dirty="0" err="1">
                <a:sym typeface="+mn-ea"/>
              </a:rPr>
              <a:t>Kiểm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thử</a:t>
            </a:r>
            <a:r>
              <a:rPr lang="en-US" dirty="0">
                <a:sym typeface="+mn-ea"/>
              </a:rPr>
              <a:t> &amp; CI/CD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828156" y="2441447"/>
            <a:ext cx="3528692" cy="3575303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CI/CD Pipeline: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• GitHub Actions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•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Tự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động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check Flake8 (Linting)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•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Tự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động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chạy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Pytest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khi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Push/Pull Request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F21905C-1BD6-BF3F-5B8B-B9AD53017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6" name="Picture 1">
            <a:extLst>
              <a:ext uri="{FF2B5EF4-FFF2-40B4-BE49-F238E27FC236}">
                <a16:creationId xmlns:a16="http://schemas.microsoft.com/office/drawing/2014/main" id="{34A1253C-7FBB-7A60-684B-5B0F11D41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6382" y="2283291"/>
            <a:ext cx="7006127" cy="32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EB3B6-E1D5-4360-5136-ADCC343CB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7C44C-E9E7-4742-9034-AF6F4319A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451889"/>
          </a:xfrm>
          <a:noFill/>
        </p:spPr>
        <p:txBody>
          <a:bodyPr anchor="b">
            <a:noAutofit/>
          </a:bodyPr>
          <a:lstStyle/>
          <a:p>
            <a:r>
              <a:rPr lang="en-US" dirty="0" err="1">
                <a:sym typeface="+mn-ea"/>
              </a:rPr>
              <a:t>Kết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luận</a:t>
            </a:r>
            <a:r>
              <a:rPr lang="en-US" dirty="0">
                <a:sym typeface="+mn-ea"/>
              </a:rPr>
              <a:t> &amp; </a:t>
            </a:r>
            <a:r>
              <a:rPr lang="en-US" dirty="0" err="1">
                <a:sym typeface="+mn-ea"/>
              </a:rPr>
              <a:t>Hướng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phát</a:t>
            </a:r>
            <a:r>
              <a:rPr lang="en-US" dirty="0">
                <a:sym typeface="+mn-ea"/>
              </a:rPr>
              <a:t> </a:t>
            </a:r>
            <a:r>
              <a:rPr lang="en-US" dirty="0" err="1">
                <a:sym typeface="+mn-ea"/>
              </a:rPr>
              <a:t>triển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B97865E-9F2B-6A8F-FBFB-073F5ADC5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7B5AD79-88CB-1179-BABF-06C058057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152" y="1939205"/>
            <a:ext cx="4840819" cy="3575304"/>
          </a:xfrm>
        </p:spPr>
        <p:txBody>
          <a:bodyPr>
            <a:noAutofit/>
          </a:bodyPr>
          <a:lstStyle/>
          <a:p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Thành quả đạt được: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vi-VN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Real-time pipeline: Kafka → Spark → Kafka → DB → Dashboard</a:t>
            </a:r>
          </a:p>
          <a:p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vi-VN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 + Rules hybrid detection (risk_score)</a:t>
            </a:r>
          </a:p>
          <a:p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vi-VN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Spark Kafka sink (phân tán, không .collect())</a:t>
            </a:r>
          </a:p>
          <a:p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6 </a:t>
            </a:r>
            <a:r>
              <a:rPr lang="vi-VN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Docker services, CI/CD, 19 unit tests</a:t>
            </a:r>
          </a:p>
          <a:p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vi-VN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real-time (SSE + REST API)</a:t>
            </a:r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7CBB8C4D-B31A-16AA-D7A0-41158951E45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tretch>
            <a:fillRect/>
          </a:stretch>
        </p:blipFill>
        <p:spPr>
          <a:xfrm>
            <a:off x="5774267" y="2638890"/>
            <a:ext cx="5875548" cy="287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018105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A0D7AA-8A21-B977-56ED-94406F299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1281283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CF4705-7CDF-C295-BC95-0D2948427B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7719267510205">
            <a:hlinkClick r:id="" action="ppaction://media"/>
            <a:extLst>
              <a:ext uri="{FF2B5EF4-FFF2-40B4-BE49-F238E27FC236}">
                <a16:creationId xmlns:a16="http://schemas.microsoft.com/office/drawing/2014/main" id="{3D72917A-2BE0-13DC-4FE5-CFB5C437327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69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1665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7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EXT" val="Rule-based Detectio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heme/theme1.xml><?xml version="1.0" encoding="utf-8"?>
<a:theme xmlns:a="http://schemas.openxmlformats.org/drawingml/2006/main" name="Custom">
  <a:themeElements>
    <a:clrScheme name="Blue spheres">
      <a:dk1>
        <a:srgbClr val="000000"/>
      </a:dk1>
      <a:lt1>
        <a:srgbClr val="FFFFFF"/>
      </a:lt1>
      <a:dk2>
        <a:srgbClr val="E3E7ED"/>
      </a:dk2>
      <a:lt2>
        <a:srgbClr val="E8E8E8"/>
      </a:lt2>
      <a:accent1>
        <a:srgbClr val="7673F7"/>
      </a:accent1>
      <a:accent2>
        <a:srgbClr val="B8C2FD"/>
      </a:accent2>
      <a:accent3>
        <a:srgbClr val="DFE3FC"/>
      </a:accent3>
      <a:accent4>
        <a:srgbClr val="55B3FD"/>
      </a:accent4>
      <a:accent5>
        <a:srgbClr val="99F7F7"/>
      </a:accent5>
      <a:accent6>
        <a:srgbClr val="FEE43F"/>
      </a:accent6>
      <a:hlink>
        <a:srgbClr val="467886"/>
      </a:hlink>
      <a:folHlink>
        <a:srgbClr val="96607D"/>
      </a:folHlink>
    </a:clrScheme>
    <a:fontScheme name="Custom 23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4076243_win32_CP_V3" id="{81AB0711-29F9-49D0-8A73-16AF25FD4C08}" vid="{D5AD44AB-53B9-4654-A4F8-1821A28F27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EA9B47F-3DD8-4645-81DC-B88780643C0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0C07E3D-60A7-4F4E-8208-D9CCD01982C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7F3CB5-3475-4129-AB60-D0C937DE910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Blue spheres presentation</Template>
  <TotalTime>103</TotalTime>
  <Words>1933</Words>
  <Application>Microsoft Office PowerPoint</Application>
  <PresentationFormat>Widescreen</PresentationFormat>
  <Paragraphs>149</Paragraphs>
  <Slides>14</Slides>
  <Notes>12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Times New Roman</vt:lpstr>
      <vt:lpstr>Custom</vt:lpstr>
      <vt:lpstr>Quản trị rủi ro &amp; Phát hiện gian lận</vt:lpstr>
      <vt:lpstr>Nội dung chính</vt:lpstr>
      <vt:lpstr>Bối cảnh &amp; Vấn đề</vt:lpstr>
      <vt:lpstr>Dataset – PaySim</vt:lpstr>
      <vt:lpstr>Kiến trúc tổng quan</vt:lpstr>
      <vt:lpstr>Data Pipeline chi tiết</vt:lpstr>
      <vt:lpstr>Feature Engineering</vt:lpstr>
      <vt:lpstr>Mô hình Machine Learning</vt:lpstr>
      <vt:lpstr>Rule-based Detection</vt:lpstr>
      <vt:lpstr>PowerPoint Presentation</vt:lpstr>
      <vt:lpstr>DEMO</vt:lpstr>
      <vt:lpstr>Kiểm thử &amp; CI/CD</vt:lpstr>
      <vt:lpstr>Kết luận &amp; Hướng phát triển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5</cp:revision>
  <dcterms:created xsi:type="dcterms:W3CDTF">2026-04-13T01:12:52Z</dcterms:created>
  <dcterms:modified xsi:type="dcterms:W3CDTF">2026-04-13T07:00:59Z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